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ba325ca4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ba325ca4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ba325ca40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ba325ca40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Policy makes decisions within the space allowed by the execution mechanism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ba325ca40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ba325ca40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c5bc666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c5bc666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Cool looks nice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c5bc666ab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c5bc666ab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c18aec0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c18aec0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c18aec01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c18aec01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ba325ca40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ba325ca40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ba325ca40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dba325ca40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ba325ca40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ba325ca40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ba325ca40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dba325ca40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ba325ca40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dba325ca40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ba325ca40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ba325ca40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ba325ca40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dba325ca40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ba325ca4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dba325ca4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light">
  <p:cSld name="Title Slide_ligh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638916" y="2414153"/>
            <a:ext cx="353700" cy="7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0" y="4300430"/>
            <a:ext cx="9144000" cy="8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638917" y="2639616"/>
            <a:ext cx="62508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700">
                <a:solidFill>
                  <a:srgbClr val="575757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38917" y="4465435"/>
            <a:ext cx="7733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638916" y="679267"/>
            <a:ext cx="6250800" cy="15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3000"/>
              <a:buFont typeface="Arial"/>
              <a:buNone/>
              <a:defRPr sz="3000">
                <a:solidFill>
                  <a:srgbClr val="3535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_2 columns">
  <p:cSld name="Title and Content_2 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1" type="ftr"/>
          </p:nvPr>
        </p:nvSpPr>
        <p:spPr>
          <a:xfrm>
            <a:off x="0" y="4878793"/>
            <a:ext cx="795300" cy="2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8000" lIns="68575" spcFirstLastPara="1" rIns="68575" wrap="square" tIns="480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>
            <a:off x="371475" y="1219278"/>
            <a:ext cx="353700" cy="7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1114425" y="1380335"/>
            <a:ext cx="3361800" cy="3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/>
              <a:buChar char="•"/>
              <a:defRPr sz="20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2" type="body"/>
          </p:nvPr>
        </p:nvSpPr>
        <p:spPr>
          <a:xfrm>
            <a:off x="0" y="4874177"/>
            <a:ext cx="4758900" cy="26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205725" spcFirstLastPara="1" rIns="68575" wrap="square" tIns="480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1100"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3" type="body"/>
          </p:nvPr>
        </p:nvSpPr>
        <p:spPr>
          <a:xfrm>
            <a:off x="4667666" y="1380335"/>
            <a:ext cx="3704700" cy="3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/>
              <a:buChar char="•"/>
              <a:defRPr sz="20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400"/>
              <a:buFont typeface="Arial"/>
              <a:buNone/>
              <a:defRPr>
                <a:solidFill>
                  <a:srgbClr val="3535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buNone/>
              <a:defRPr b="1" sz="2000">
                <a:solidFill>
                  <a:srgbClr val="FFFFFF"/>
                </a:solidFill>
              </a:defRPr>
            </a:lvl1pPr>
            <a:lvl2pPr lvl="1">
              <a:buNone/>
              <a:defRPr b="1" sz="2000">
                <a:solidFill>
                  <a:srgbClr val="FFFFFF"/>
                </a:solidFill>
              </a:defRPr>
            </a:lvl2pPr>
            <a:lvl3pPr lvl="2">
              <a:buNone/>
              <a:defRPr b="1" sz="2000">
                <a:solidFill>
                  <a:srgbClr val="FFFFFF"/>
                </a:solidFill>
              </a:defRPr>
            </a:lvl3pPr>
            <a:lvl4pPr lvl="3">
              <a:buNone/>
              <a:defRPr b="1" sz="2000">
                <a:solidFill>
                  <a:srgbClr val="FFFFFF"/>
                </a:solidFill>
              </a:defRPr>
            </a:lvl4pPr>
            <a:lvl5pPr lvl="4">
              <a:buNone/>
              <a:defRPr b="1" sz="2000">
                <a:solidFill>
                  <a:srgbClr val="FFFFFF"/>
                </a:solidFill>
              </a:defRPr>
            </a:lvl5pPr>
            <a:lvl6pPr lvl="5">
              <a:buNone/>
              <a:defRPr b="1" sz="2000">
                <a:solidFill>
                  <a:srgbClr val="FFFFFF"/>
                </a:solidFill>
              </a:defRPr>
            </a:lvl6pPr>
            <a:lvl7pPr lvl="6">
              <a:buNone/>
              <a:defRPr b="1" sz="2000">
                <a:solidFill>
                  <a:srgbClr val="FFFFFF"/>
                </a:solidFill>
              </a:defRPr>
            </a:lvl7pPr>
            <a:lvl8pPr lvl="7">
              <a:buNone/>
              <a:defRPr b="1" sz="2000">
                <a:solidFill>
                  <a:srgbClr val="FFFFFF"/>
                </a:solidFill>
              </a:defRPr>
            </a:lvl8pPr>
            <a:lvl9pPr lvl="8">
              <a:buNone/>
              <a:defRPr b="1" sz="20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dark">
  <p:cSld name="Title Slide_dar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430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38916" y="2414153"/>
            <a:ext cx="353700" cy="7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638917" y="2639616"/>
            <a:ext cx="62508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700">
                <a:solidFill>
                  <a:srgbClr val="C7C7C7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2" type="body"/>
          </p:nvPr>
        </p:nvSpPr>
        <p:spPr>
          <a:xfrm>
            <a:off x="638917" y="4465435"/>
            <a:ext cx="7733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400">
                <a:solidFill>
                  <a:srgbClr val="353535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4"/>
          <p:cNvSpPr/>
          <p:nvPr/>
        </p:nvSpPr>
        <p:spPr>
          <a:xfrm>
            <a:off x="8629650" y="7348"/>
            <a:ext cx="428100" cy="7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33" name="Google Shape;3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2594" y="174017"/>
            <a:ext cx="342091" cy="5375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>
            <p:ph type="title"/>
          </p:nvPr>
        </p:nvSpPr>
        <p:spPr>
          <a:xfrm>
            <a:off x="637760" y="679268"/>
            <a:ext cx="6250800" cy="15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_1 column">
  <p:cSld name="Title and Content_1 colum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400"/>
              <a:buFont typeface="Arial"/>
              <a:buNone/>
              <a:defRPr>
                <a:solidFill>
                  <a:srgbClr val="3535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0" y="4878793"/>
            <a:ext cx="795300" cy="2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8000" lIns="68575" spcFirstLastPara="1" rIns="68575" wrap="square" tIns="480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"/>
          <p:cNvSpPr/>
          <p:nvPr/>
        </p:nvSpPr>
        <p:spPr>
          <a:xfrm>
            <a:off x="371475" y="1219278"/>
            <a:ext cx="353700" cy="7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1114425" y="1380335"/>
            <a:ext cx="7258200" cy="3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/>
              <a:buChar char="•"/>
              <a:defRPr sz="2000">
                <a:solidFill>
                  <a:srgbClr val="353535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0" y="4874177"/>
            <a:ext cx="4758900" cy="26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205725" spcFirstLastPara="1" rIns="68575" wrap="square" tIns="480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1100"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red">
  <p:cSld name="Section Header_red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6176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0" y="768096"/>
            <a:ext cx="8372400" cy="436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1114425" y="3170196"/>
            <a:ext cx="3948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700">
                <a:solidFill>
                  <a:srgbClr val="E8E8E8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6"/>
          <p:cNvSpPr/>
          <p:nvPr/>
        </p:nvSpPr>
        <p:spPr>
          <a:xfrm>
            <a:off x="6535674" y="768096"/>
            <a:ext cx="1834351" cy="4382089"/>
          </a:xfrm>
          <a:custGeom>
            <a:rect b="b" l="l" r="r" t="t"/>
            <a:pathLst>
              <a:path extrusionOk="0" h="6193766" w="3290316">
                <a:moveTo>
                  <a:pt x="0" y="0"/>
                </a:moveTo>
                <a:lnTo>
                  <a:pt x="1490472" y="0"/>
                </a:lnTo>
                <a:lnTo>
                  <a:pt x="2980944" y="0"/>
                </a:lnTo>
                <a:lnTo>
                  <a:pt x="3290316" y="0"/>
                </a:lnTo>
                <a:lnTo>
                  <a:pt x="3290316" y="6185532"/>
                </a:lnTo>
                <a:lnTo>
                  <a:pt x="1492453" y="6185532"/>
                </a:lnTo>
                <a:lnTo>
                  <a:pt x="1490472" y="6193766"/>
                </a:lnTo>
                <a:close/>
              </a:path>
            </a:pathLst>
          </a:custGeom>
          <a:solidFill>
            <a:srgbClr val="930309">
              <a:alpha val="2470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8630294" y="0"/>
            <a:ext cx="428100" cy="7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3239" y="166669"/>
            <a:ext cx="342091" cy="53757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1114425" y="3005553"/>
            <a:ext cx="353700" cy="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 txBox="1"/>
          <p:nvPr>
            <p:ph type="title"/>
          </p:nvPr>
        </p:nvSpPr>
        <p:spPr>
          <a:xfrm>
            <a:off x="1114425" y="1885950"/>
            <a:ext cx="62094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buNone/>
              <a:defRPr>
                <a:solidFill>
                  <a:srgbClr val="E8E8E8"/>
                </a:solidFill>
              </a:defRPr>
            </a:lvl1pPr>
            <a:lvl2pPr lvl="1">
              <a:buNone/>
              <a:defRPr>
                <a:solidFill>
                  <a:srgbClr val="E8E8E8"/>
                </a:solidFill>
              </a:defRPr>
            </a:lvl2pPr>
            <a:lvl3pPr lvl="2">
              <a:buNone/>
              <a:defRPr>
                <a:solidFill>
                  <a:srgbClr val="E8E8E8"/>
                </a:solidFill>
              </a:defRPr>
            </a:lvl3pPr>
            <a:lvl4pPr lvl="3">
              <a:buNone/>
              <a:defRPr>
                <a:solidFill>
                  <a:srgbClr val="E8E8E8"/>
                </a:solidFill>
              </a:defRPr>
            </a:lvl4pPr>
            <a:lvl5pPr lvl="4">
              <a:buNone/>
              <a:defRPr>
                <a:solidFill>
                  <a:srgbClr val="E8E8E8"/>
                </a:solidFill>
              </a:defRPr>
            </a:lvl5pPr>
            <a:lvl6pPr lvl="5">
              <a:buNone/>
              <a:defRPr>
                <a:solidFill>
                  <a:srgbClr val="E8E8E8"/>
                </a:solidFill>
              </a:defRPr>
            </a:lvl6pPr>
            <a:lvl7pPr lvl="6">
              <a:buNone/>
              <a:defRPr>
                <a:solidFill>
                  <a:srgbClr val="E8E8E8"/>
                </a:solidFill>
              </a:defRPr>
            </a:lvl7pPr>
            <a:lvl8pPr lvl="7">
              <a:buNone/>
              <a:defRPr>
                <a:solidFill>
                  <a:srgbClr val="E8E8E8"/>
                </a:solidFill>
              </a:defRPr>
            </a:lvl8pPr>
            <a:lvl9pPr lvl="8">
              <a:buNone/>
              <a:defRPr>
                <a:solidFill>
                  <a:srgbClr val="E8E8E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black">
  <p:cSld name="Section Header_blac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6176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/>
          <p:nvPr/>
        </p:nvSpPr>
        <p:spPr>
          <a:xfrm>
            <a:off x="0" y="768096"/>
            <a:ext cx="8372400" cy="4375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>
            <a:off x="1114425" y="3170196"/>
            <a:ext cx="3948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700">
                <a:solidFill>
                  <a:srgbClr val="C7C7C7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7"/>
          <p:cNvSpPr/>
          <p:nvPr/>
        </p:nvSpPr>
        <p:spPr>
          <a:xfrm>
            <a:off x="8630294" y="0"/>
            <a:ext cx="428100" cy="7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58" name="Google Shape;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3239" y="166669"/>
            <a:ext cx="342091" cy="53757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/>
          <p:nvPr/>
        </p:nvSpPr>
        <p:spPr>
          <a:xfrm>
            <a:off x="1114425" y="3005553"/>
            <a:ext cx="353700" cy="7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6535674" y="768096"/>
            <a:ext cx="1834351" cy="4382089"/>
          </a:xfrm>
          <a:custGeom>
            <a:rect b="b" l="l" r="r" t="t"/>
            <a:pathLst>
              <a:path extrusionOk="0" h="6193766" w="3290316">
                <a:moveTo>
                  <a:pt x="0" y="0"/>
                </a:moveTo>
                <a:lnTo>
                  <a:pt x="1490472" y="0"/>
                </a:lnTo>
                <a:lnTo>
                  <a:pt x="2980944" y="0"/>
                </a:lnTo>
                <a:lnTo>
                  <a:pt x="3290316" y="0"/>
                </a:lnTo>
                <a:lnTo>
                  <a:pt x="3290316" y="6185532"/>
                </a:lnTo>
                <a:lnTo>
                  <a:pt x="1492453" y="6185532"/>
                </a:lnTo>
                <a:lnTo>
                  <a:pt x="1490472" y="6193766"/>
                </a:lnTo>
                <a:close/>
              </a:path>
            </a:pathLst>
          </a:custGeom>
          <a:solidFill>
            <a:srgbClr val="575757">
              <a:alpha val="2470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1114425" y="1875651"/>
            <a:ext cx="62094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400"/>
              <a:buFont typeface="Arial"/>
              <a:buNone/>
              <a:defRPr>
                <a:solidFill>
                  <a:srgbClr val="3535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0" y="4878793"/>
            <a:ext cx="795300" cy="2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8000" lIns="68575" spcFirstLastPara="1" rIns="68575" wrap="square" tIns="480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idx="11" type="ftr"/>
          </p:nvPr>
        </p:nvSpPr>
        <p:spPr>
          <a:xfrm>
            <a:off x="0" y="4878793"/>
            <a:ext cx="795300" cy="2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8000" lIns="68575" spcFirstLastPara="1" rIns="68575" wrap="square" tIns="480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type="title"/>
          </p:nvPr>
        </p:nvSpPr>
        <p:spPr>
          <a:xfrm>
            <a:off x="0" y="-133126"/>
            <a:ext cx="80010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-red" showMasterSp="0">
  <p:cSld name="End-red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/>
        </p:nvSpPr>
        <p:spPr>
          <a:xfrm>
            <a:off x="0" y="-7454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W–Madison logo in white text on a red background" id="73" name="Google Shape;7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17819" y="2183461"/>
            <a:ext cx="2308365" cy="77657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type="title"/>
          </p:nvPr>
        </p:nvSpPr>
        <p:spPr>
          <a:xfrm>
            <a:off x="0" y="-156717"/>
            <a:ext cx="80010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-black" showMasterSp="0">
  <p:cSld name="End-blac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/>
          <p:nvPr/>
        </p:nvSpPr>
        <p:spPr>
          <a:xfrm>
            <a:off x="0" y="-7454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W–Madison logo with white text on a black background" id="78" name="Google Shape;7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17819" y="2183461"/>
            <a:ext cx="2308365" cy="77657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1"/>
          <p:cNvSpPr txBox="1"/>
          <p:nvPr>
            <p:ph type="title"/>
          </p:nvPr>
        </p:nvSpPr>
        <p:spPr>
          <a:xfrm>
            <a:off x="0" y="-188989"/>
            <a:ext cx="8001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2" name="Google Shape;82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14425" y="1371599"/>
            <a:ext cx="72582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0" y="4878793"/>
            <a:ext cx="795300" cy="2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8000" lIns="68575" spcFirstLastPara="1" rIns="68575" wrap="square" tIns="4800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/>
          <p:nvPr/>
        </p:nvSpPr>
        <p:spPr>
          <a:xfrm>
            <a:off x="8630294" y="0"/>
            <a:ext cx="428100" cy="7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W–Madison red crest logo&#10;"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673239" y="166669"/>
            <a:ext cx="342091" cy="537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r">
              <a:buNone/>
              <a:defRPr b="1" sz="2000">
                <a:solidFill>
                  <a:srgbClr val="FFFFFF"/>
                </a:solidFill>
              </a:defRPr>
            </a:lvl1pPr>
            <a:lvl2pPr lvl="1" algn="r">
              <a:buNone/>
              <a:defRPr b="1" sz="2000">
                <a:solidFill>
                  <a:srgbClr val="FFFFFF"/>
                </a:solidFill>
              </a:defRPr>
            </a:lvl2pPr>
            <a:lvl3pPr lvl="2" algn="r">
              <a:buNone/>
              <a:defRPr b="1" sz="2000">
                <a:solidFill>
                  <a:srgbClr val="FFFFFF"/>
                </a:solidFill>
              </a:defRPr>
            </a:lvl3pPr>
            <a:lvl4pPr lvl="3" algn="r">
              <a:buNone/>
              <a:defRPr b="1" sz="2000">
                <a:solidFill>
                  <a:srgbClr val="FFFFFF"/>
                </a:solidFill>
              </a:defRPr>
            </a:lvl4pPr>
            <a:lvl5pPr lvl="4" algn="r">
              <a:buNone/>
              <a:defRPr b="1" sz="2000">
                <a:solidFill>
                  <a:srgbClr val="FFFFFF"/>
                </a:solidFill>
              </a:defRPr>
            </a:lvl5pPr>
            <a:lvl6pPr lvl="5" algn="r">
              <a:buNone/>
              <a:defRPr b="1" sz="2000">
                <a:solidFill>
                  <a:srgbClr val="FFFFFF"/>
                </a:solidFill>
              </a:defRPr>
            </a:lvl6pPr>
            <a:lvl7pPr lvl="6" algn="r">
              <a:buNone/>
              <a:defRPr b="1" sz="2000">
                <a:solidFill>
                  <a:srgbClr val="FFFFFF"/>
                </a:solidFill>
              </a:defRPr>
            </a:lvl7pPr>
            <a:lvl8pPr lvl="7" algn="r">
              <a:buNone/>
              <a:defRPr b="1" sz="2000">
                <a:solidFill>
                  <a:srgbClr val="FFFFFF"/>
                </a:solidFill>
              </a:defRPr>
            </a:lvl8pPr>
            <a:lvl9pPr lvl="8" algn="r">
              <a:buNone/>
              <a:defRPr b="1" sz="20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54">
          <p15:clr>
            <a:srgbClr val="F26B43"/>
          </p15:clr>
        </p15:guide>
        <p15:guide id="2" pos="54">
          <p15:clr>
            <a:srgbClr val="F26B43"/>
          </p15:clr>
        </p15:guide>
        <p15:guide id="3" pos="5706">
          <p15:clr>
            <a:srgbClr val="F26B43"/>
          </p15:clr>
        </p15:guide>
        <p15:guide id="4" pos="234">
          <p15:clr>
            <a:srgbClr val="F26B43"/>
          </p15:clr>
        </p15:guide>
        <p15:guide id="5" pos="5436">
          <p15:clr>
            <a:srgbClr val="F26B43"/>
          </p15:clr>
        </p15:guide>
        <p15:guide id="6" orient="horz" pos="3186">
          <p15:clr>
            <a:srgbClr val="F26B43"/>
          </p15:clr>
        </p15:guide>
        <p15:guide id="7" orient="horz" pos="216">
          <p15:clr>
            <a:srgbClr val="F26B43"/>
          </p15:clr>
        </p15:guide>
        <p15:guide id="8" orient="horz" pos="720">
          <p15:clr>
            <a:srgbClr val="F26B43"/>
          </p15:clr>
        </p15:guide>
        <p15:guide id="9" pos="5274">
          <p15:clr>
            <a:srgbClr val="F26B43"/>
          </p15:clr>
        </p15:guide>
        <p15:guide id="10" pos="702">
          <p15:clr>
            <a:srgbClr val="F26B43"/>
          </p15:clr>
        </p15:guide>
        <p15:guide id="11" orient="horz" pos="864">
          <p15:clr>
            <a:srgbClr val="F26B43"/>
          </p15:clr>
        </p15:guide>
        <p15:guide id="12" orient="horz" pos="297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637760" y="679268"/>
            <a:ext cx="6250800" cy="15798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Latency–Fairness vs. Throughput in Non-Preemptive Shared GPU Scheduling</a:t>
            </a:r>
            <a:endParaRPr/>
          </a:p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638917" y="2639616"/>
            <a:ext cx="6250800" cy="5265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Yayen Lin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Xuechun Jin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Jianing Ou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Matthew Kearney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 txBox="1"/>
          <p:nvPr>
            <p:ph idx="2" type="body"/>
          </p:nvPr>
        </p:nvSpPr>
        <p:spPr>
          <a:xfrm>
            <a:off x="638925" y="4465423"/>
            <a:ext cx="7733700" cy="5265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CS/ECE 757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1114425" y="1380325"/>
            <a:ext cx="4665300" cy="33345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B5394"/>
                </a:solidFill>
              </a:rPr>
              <a:t>Shared GPUs + Non-Preemptive Execution = Hard Scheduling Problem</a:t>
            </a:r>
            <a:endParaRPr b="1" sz="1800">
              <a:solidFill>
                <a:srgbClr val="0B5394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3535"/>
              </a:buClr>
              <a:buSzPts val="1800"/>
              <a:buChar char="➢"/>
            </a:pPr>
            <a:r>
              <a:rPr lang="en" sz="1800"/>
              <a:t>Kernels cannot be interrupted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800"/>
              <a:buChar char="➢"/>
            </a:pPr>
            <a:r>
              <a:rPr lang="en" sz="1800"/>
              <a:t>Scheduling decisions directly impact: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800"/>
              <a:buChar char="○"/>
            </a:pPr>
            <a:r>
              <a:rPr lang="en" sz="1800">
                <a:solidFill>
                  <a:srgbClr val="353535"/>
                </a:solidFill>
              </a:rPr>
              <a:t>Latency</a:t>
            </a:r>
            <a:endParaRPr sz="1800">
              <a:solidFill>
                <a:srgbClr val="353535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800"/>
              <a:buChar char="○"/>
            </a:pPr>
            <a:r>
              <a:rPr lang="en" sz="1800">
                <a:solidFill>
                  <a:srgbClr val="353535"/>
                </a:solidFill>
              </a:rPr>
              <a:t>Throughput</a:t>
            </a:r>
            <a:endParaRPr sz="1800">
              <a:solidFill>
                <a:srgbClr val="353535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800"/>
              <a:buChar char="○"/>
            </a:pPr>
            <a:r>
              <a:rPr lang="en" sz="1800">
                <a:solidFill>
                  <a:srgbClr val="353535"/>
                </a:solidFill>
              </a:rPr>
              <a:t>Fairness</a:t>
            </a:r>
            <a:endParaRPr sz="1800">
              <a:solidFill>
                <a:srgbClr val="35353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We explore how different scheduling policies and execution modes shift this tradeoff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" name="Google Shape;97;p14"/>
          <p:cNvSpPr/>
          <p:nvPr/>
        </p:nvSpPr>
        <p:spPr>
          <a:xfrm rot="-7044066">
            <a:off x="6567216" y="3482692"/>
            <a:ext cx="174700" cy="301767"/>
          </a:xfrm>
          <a:prstGeom prst="up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 flipH="1" rot="7044066">
            <a:off x="7862616" y="3482692"/>
            <a:ext cx="174700" cy="301767"/>
          </a:xfrm>
          <a:prstGeom prst="up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14"/>
          <p:cNvGrpSpPr/>
          <p:nvPr/>
        </p:nvGrpSpPr>
        <p:grpSpPr>
          <a:xfrm>
            <a:off x="4572000" y="1380313"/>
            <a:ext cx="4387300" cy="2895525"/>
            <a:chOff x="4572000" y="1599813"/>
            <a:chExt cx="4387300" cy="2895525"/>
          </a:xfrm>
        </p:grpSpPr>
        <p:grpSp>
          <p:nvGrpSpPr>
            <p:cNvPr id="100" name="Google Shape;100;p14"/>
            <p:cNvGrpSpPr/>
            <p:nvPr/>
          </p:nvGrpSpPr>
          <p:grpSpPr>
            <a:xfrm>
              <a:off x="4572000" y="1599813"/>
              <a:ext cx="4387300" cy="2895525"/>
              <a:chOff x="3941525" y="1549050"/>
              <a:chExt cx="4387300" cy="2895525"/>
            </a:xfrm>
          </p:grpSpPr>
          <p:sp>
            <p:nvSpPr>
              <p:cNvPr id="101" name="Google Shape;101;p14"/>
              <p:cNvSpPr/>
              <p:nvPr/>
            </p:nvSpPr>
            <p:spPr>
              <a:xfrm>
                <a:off x="6581255" y="1695202"/>
                <a:ext cx="198600" cy="198300"/>
              </a:xfrm>
              <a:prstGeom prst="ellipse">
                <a:avLst/>
              </a:prstGeom>
              <a:gradFill>
                <a:gsLst>
                  <a:gs pos="0">
                    <a:srgbClr val="DB0000"/>
                  </a:gs>
                  <a:gs pos="100000">
                    <a:srgbClr val="540303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4"/>
              <p:cNvSpPr txBox="1"/>
              <p:nvPr/>
            </p:nvSpPr>
            <p:spPr>
              <a:xfrm>
                <a:off x="6556245" y="1638685"/>
                <a:ext cx="247500" cy="31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3" name="Google Shape;103;p14"/>
              <p:cNvSpPr/>
              <p:nvPr/>
            </p:nvSpPr>
            <p:spPr>
              <a:xfrm>
                <a:off x="5204326" y="3647080"/>
                <a:ext cx="198600" cy="198300"/>
              </a:xfrm>
              <a:prstGeom prst="ellipse">
                <a:avLst/>
              </a:prstGeom>
              <a:gradFill>
                <a:gsLst>
                  <a:gs pos="0">
                    <a:srgbClr val="3176EE"/>
                  </a:gs>
                  <a:gs pos="100000">
                    <a:srgbClr val="113D8A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4"/>
              <p:cNvSpPr txBox="1"/>
              <p:nvPr/>
            </p:nvSpPr>
            <p:spPr>
              <a:xfrm>
                <a:off x="5179316" y="3589789"/>
                <a:ext cx="247500" cy="31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 flipH="1">
                <a:off x="7951651" y="3673360"/>
                <a:ext cx="198600" cy="198300"/>
              </a:xfrm>
              <a:prstGeom prst="ellipse">
                <a:avLst/>
              </a:prstGeom>
              <a:gradFill>
                <a:gsLst>
                  <a:gs pos="0">
                    <a:srgbClr val="51AB2A"/>
                  </a:gs>
                  <a:gs pos="100000">
                    <a:srgbClr val="203E13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4"/>
              <p:cNvSpPr txBox="1"/>
              <p:nvPr/>
            </p:nvSpPr>
            <p:spPr>
              <a:xfrm flipH="1">
                <a:off x="7927761" y="3617319"/>
                <a:ext cx="247500" cy="31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7" name="Google Shape;107;p14"/>
              <p:cNvSpPr/>
              <p:nvPr/>
            </p:nvSpPr>
            <p:spPr>
              <a:xfrm rot="3362683">
                <a:off x="6564033" y="2828353"/>
                <a:ext cx="1312157" cy="241630"/>
              </a:xfrm>
              <a:prstGeom prst="trapezoid">
                <a:avLst>
                  <a:gd fmla="val 25000" name="adj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B3B3B3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4"/>
              <p:cNvSpPr/>
              <p:nvPr/>
            </p:nvSpPr>
            <p:spPr>
              <a:xfrm rot="-10799268">
                <a:off x="5957451" y="3680525"/>
                <a:ext cx="1409100" cy="242100"/>
              </a:xfrm>
              <a:prstGeom prst="trapezoid">
                <a:avLst>
                  <a:gd fmla="val 25000" name="adj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B3B3B3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4"/>
              <p:cNvSpPr/>
              <p:nvPr/>
            </p:nvSpPr>
            <p:spPr>
              <a:xfrm rot="-3384699">
                <a:off x="5517353" y="2802345"/>
                <a:ext cx="1312312" cy="241961"/>
              </a:xfrm>
              <a:prstGeom prst="trapezoid">
                <a:avLst>
                  <a:gd fmla="val 25000" name="adj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B3B3B3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4"/>
              <p:cNvSpPr/>
              <p:nvPr/>
            </p:nvSpPr>
            <p:spPr>
              <a:xfrm>
                <a:off x="7228550" y="3333875"/>
                <a:ext cx="750300" cy="588900"/>
              </a:xfrm>
              <a:prstGeom prst="triangle">
                <a:avLst>
                  <a:gd fmla="val 50000" name="adj"/>
                </a:avLst>
              </a:prstGeom>
              <a:gradFill>
                <a:gsLst>
                  <a:gs pos="0">
                    <a:srgbClr val="51AB2A"/>
                  </a:gs>
                  <a:gs pos="100000">
                    <a:srgbClr val="203E13"/>
                  </a:gs>
                </a:gsLst>
                <a:lin ang="13500032" scaled="0"/>
              </a:gra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4"/>
              <p:cNvSpPr/>
              <p:nvPr/>
            </p:nvSpPr>
            <p:spPr>
              <a:xfrm rot="-7138129">
                <a:off x="5322895" y="3439133"/>
                <a:ext cx="700550" cy="649383"/>
              </a:xfrm>
              <a:prstGeom prst="triangle">
                <a:avLst>
                  <a:gd fmla="val 50000" name="adj"/>
                </a:avLst>
              </a:prstGeom>
              <a:gradFill>
                <a:gsLst>
                  <a:gs pos="0">
                    <a:srgbClr val="1076D2"/>
                  </a:gs>
                  <a:gs pos="100000">
                    <a:srgbClr val="093053"/>
                  </a:gs>
                </a:gsLst>
                <a:lin ang="18900044" scaled="0"/>
              </a:gra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6303300" y="1923875"/>
                <a:ext cx="750300" cy="588900"/>
              </a:xfrm>
              <a:prstGeom prst="triangle">
                <a:avLst>
                  <a:gd fmla="val 50000" name="adj"/>
                </a:avLst>
              </a:prstGeom>
              <a:gradFill>
                <a:gsLst>
                  <a:gs pos="0">
                    <a:srgbClr val="DB0000"/>
                  </a:gs>
                  <a:gs pos="100000">
                    <a:srgbClr val="540303"/>
                  </a:gs>
                </a:gsLst>
                <a:lin ang="8100019" scaled="0"/>
              </a:gra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4"/>
              <p:cNvSpPr/>
              <p:nvPr/>
            </p:nvSpPr>
            <p:spPr>
              <a:xfrm>
                <a:off x="5379648" y="1923863"/>
                <a:ext cx="2599200" cy="1998900"/>
              </a:xfrm>
              <a:prstGeom prst="triangle">
                <a:avLst>
                  <a:gd fmla="val 5000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4"/>
              <p:cNvSpPr/>
              <p:nvPr/>
            </p:nvSpPr>
            <p:spPr>
              <a:xfrm>
                <a:off x="5709700" y="2337475"/>
                <a:ext cx="1939800" cy="1420200"/>
              </a:xfrm>
              <a:prstGeom prst="triangle">
                <a:avLst>
                  <a:gd fmla="val 50000" name="adj"/>
                </a:avLst>
              </a:prstGeom>
              <a:gradFill>
                <a:gsLst>
                  <a:gs pos="0">
                    <a:srgbClr val="FFF6DB"/>
                  </a:gs>
                  <a:gs pos="100000">
                    <a:srgbClr val="FAD15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9525">
                <a:solidFill>
                  <a:schemeClr val="dk1"/>
                </a:solidFill>
                <a:prstDash val="lgDashDot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4"/>
              <p:cNvSpPr txBox="1"/>
              <p:nvPr/>
            </p:nvSpPr>
            <p:spPr>
              <a:xfrm>
                <a:off x="5957450" y="3082150"/>
                <a:ext cx="14436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latin typeface="Times New Roman"/>
                    <a:ea typeface="Times New Roman"/>
                    <a:cs typeface="Times New Roman"/>
                    <a:sym typeface="Times New Roman"/>
                  </a:rPr>
                  <a:t>Non-Preemptive</a:t>
                </a:r>
                <a:endParaRPr b="1" sz="11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latin typeface="Times New Roman"/>
                    <a:ea typeface="Times New Roman"/>
                    <a:cs typeface="Times New Roman"/>
                    <a:sym typeface="Times New Roman"/>
                  </a:rPr>
                  <a:t>GPU Scheduler</a:t>
                </a:r>
                <a:endParaRPr b="1" sz="11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" name="Google Shape;116;p14"/>
              <p:cNvSpPr txBox="1"/>
              <p:nvPr/>
            </p:nvSpPr>
            <p:spPr>
              <a:xfrm>
                <a:off x="3941525" y="3517275"/>
                <a:ext cx="1939800" cy="92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LATENCY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7" name="Google Shape;117;p14"/>
              <p:cNvSpPr txBox="1"/>
              <p:nvPr/>
            </p:nvSpPr>
            <p:spPr>
              <a:xfrm>
                <a:off x="6793900" y="1549050"/>
                <a:ext cx="1229700" cy="8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THROUGHPUT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8" name="Google Shape;118;p14"/>
              <p:cNvSpPr txBox="1"/>
              <p:nvPr/>
            </p:nvSpPr>
            <p:spPr>
              <a:xfrm flipH="1">
                <a:off x="6753525" y="3673350"/>
                <a:ext cx="1575300" cy="63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r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FAIRNESS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19" name="Google Shape;119;p14"/>
            <p:cNvSpPr/>
            <p:nvPr/>
          </p:nvSpPr>
          <p:spPr>
            <a:xfrm>
              <a:off x="7220375" y="2660950"/>
              <a:ext cx="174900" cy="461400"/>
            </a:xfrm>
            <a:prstGeom prst="up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4"/>
            <p:cNvSpPr/>
            <p:nvPr/>
          </p:nvSpPr>
          <p:spPr>
            <a:xfrm rot="-7044066">
              <a:off x="6567216" y="3482692"/>
              <a:ext cx="174700" cy="301767"/>
            </a:xfrm>
            <a:prstGeom prst="up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4"/>
            <p:cNvSpPr/>
            <p:nvPr/>
          </p:nvSpPr>
          <p:spPr>
            <a:xfrm flipH="1" rot="7044066">
              <a:off x="7862616" y="3482692"/>
              <a:ext cx="174700" cy="301767"/>
            </a:xfrm>
            <a:prstGeom prst="up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/>
          <p:nvPr/>
        </p:nvSpPr>
        <p:spPr>
          <a:xfrm>
            <a:off x="6150675" y="2747525"/>
            <a:ext cx="2658000" cy="1895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Levelized DAG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7772400" y="3200400"/>
            <a:ext cx="274200" cy="2742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8" name="Google Shape;128;p15"/>
          <p:cNvSpPr/>
          <p:nvPr/>
        </p:nvSpPr>
        <p:spPr>
          <a:xfrm>
            <a:off x="7821550" y="3240425"/>
            <a:ext cx="175900" cy="1941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A</a:t>
            </a:r>
          </a:p>
        </p:txBody>
      </p:sp>
      <p:sp>
        <p:nvSpPr>
          <p:cNvPr id="129" name="Google Shape;129;p15"/>
          <p:cNvSpPr txBox="1"/>
          <p:nvPr>
            <p:ph idx="1" type="body"/>
          </p:nvPr>
        </p:nvSpPr>
        <p:spPr>
          <a:xfrm>
            <a:off x="1114425" y="1380325"/>
            <a:ext cx="5221500" cy="33345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15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500"/>
              <a:t>When multiple workloads share a GPU, jobs can get stuck waiting behind others.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500"/>
              <a:t>Two forces compete: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53535"/>
              </a:buClr>
              <a:buSzPts val="1500"/>
              <a:buChar char="➢"/>
            </a:pPr>
            <a:r>
              <a:rPr b="1" lang="en" sz="1500">
                <a:highlight>
                  <a:srgbClr val="D9EAD3"/>
                </a:highlight>
              </a:rPr>
              <a:t>Scheduling Policy</a:t>
            </a:r>
            <a:r>
              <a:rPr lang="en" sz="1500"/>
              <a:t> → Who runs next?</a:t>
            </a:r>
            <a:br>
              <a:rPr lang="en" sz="1500"/>
            </a:br>
            <a:r>
              <a:rPr lang="en" sz="1500"/>
              <a:t> (FIFO, Priority, Dependency-aware)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500"/>
              <a:buChar char="➢"/>
            </a:pPr>
            <a:r>
              <a:rPr b="1" lang="en" sz="1500">
                <a:highlight>
                  <a:srgbClr val="F4CCCC"/>
                </a:highlight>
              </a:rPr>
              <a:t>Execution Mechanism</a:t>
            </a:r>
            <a:r>
              <a:rPr lang="en" sz="1500"/>
              <a:t> → How do we launch work?</a:t>
            </a:r>
            <a:br>
              <a:rPr lang="en" sz="1500"/>
            </a:br>
            <a:r>
              <a:rPr lang="en" sz="1500"/>
              <a:t> (Small batches vs large batches vs levels)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500"/>
          </a:p>
        </p:txBody>
      </p:sp>
      <p:sp>
        <p:nvSpPr>
          <p:cNvPr id="130" name="Google Shape;130;p15"/>
          <p:cNvSpPr/>
          <p:nvPr/>
        </p:nvSpPr>
        <p:spPr>
          <a:xfrm>
            <a:off x="6229750" y="1035350"/>
            <a:ext cx="2625600" cy="1314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FIFO</a:t>
            </a:r>
            <a:endParaRPr/>
          </a:p>
        </p:txBody>
      </p:sp>
      <p:sp>
        <p:nvSpPr>
          <p:cNvPr id="131" name="Google Shape;131;p15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grpSp>
        <p:nvGrpSpPr>
          <p:cNvPr id="132" name="Google Shape;132;p15"/>
          <p:cNvGrpSpPr/>
          <p:nvPr/>
        </p:nvGrpSpPr>
        <p:grpSpPr>
          <a:xfrm>
            <a:off x="6895700" y="1327600"/>
            <a:ext cx="1878975" cy="832550"/>
            <a:chOff x="6595625" y="1300925"/>
            <a:chExt cx="1878975" cy="832550"/>
          </a:xfrm>
        </p:grpSpPr>
        <p:sp>
          <p:nvSpPr>
            <p:cNvPr id="133" name="Google Shape;133;p15"/>
            <p:cNvSpPr/>
            <p:nvPr/>
          </p:nvSpPr>
          <p:spPr>
            <a:xfrm>
              <a:off x="7296575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611350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7926125" y="1348050"/>
              <a:ext cx="178500" cy="738300"/>
            </a:xfrm>
            <a:prstGeom prst="rect">
              <a:avLst/>
            </a:prstGeom>
            <a:solidFill>
              <a:srgbClr val="45818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6" name="Google Shape;136;p15"/>
            <p:cNvCxnSpPr/>
            <p:nvPr/>
          </p:nvCxnSpPr>
          <p:spPr>
            <a:xfrm>
              <a:off x="6611875" y="1722050"/>
              <a:ext cx="233700" cy="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37" name="Google Shape;137;p15"/>
            <p:cNvCxnSpPr/>
            <p:nvPr/>
          </p:nvCxnSpPr>
          <p:spPr>
            <a:xfrm flipH="1">
              <a:off x="6600775" y="1300925"/>
              <a:ext cx="1509000" cy="1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8" name="Google Shape;138;p15"/>
            <p:cNvSpPr/>
            <p:nvPr/>
          </p:nvSpPr>
          <p:spPr>
            <a:xfrm>
              <a:off x="6981800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" name="Google Shape;139;p15"/>
            <p:cNvCxnSpPr/>
            <p:nvPr/>
          </p:nvCxnSpPr>
          <p:spPr>
            <a:xfrm>
              <a:off x="8240900" y="1717050"/>
              <a:ext cx="233700" cy="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40" name="Google Shape;140;p15"/>
            <p:cNvCxnSpPr/>
            <p:nvPr/>
          </p:nvCxnSpPr>
          <p:spPr>
            <a:xfrm flipH="1">
              <a:off x="6595625" y="2131675"/>
              <a:ext cx="1509000" cy="1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1" name="Google Shape;141;p15"/>
          <p:cNvSpPr/>
          <p:nvPr/>
        </p:nvSpPr>
        <p:spPr>
          <a:xfrm>
            <a:off x="7406640" y="3657600"/>
            <a:ext cx="274200" cy="2742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8138160" y="3657600"/>
            <a:ext cx="274200" cy="2742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7406640" y="4140050"/>
            <a:ext cx="274200" cy="274200"/>
          </a:xfrm>
          <a:prstGeom prst="ellipse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8138160" y="4140050"/>
            <a:ext cx="274200" cy="274200"/>
          </a:xfrm>
          <a:prstGeom prst="ellipse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8205150" y="4180075"/>
            <a:ext cx="140195" cy="1941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E</a:t>
            </a:r>
          </a:p>
        </p:txBody>
      </p:sp>
      <p:sp>
        <p:nvSpPr>
          <p:cNvPr id="146" name="Google Shape;146;p15"/>
          <p:cNvSpPr/>
          <p:nvPr/>
        </p:nvSpPr>
        <p:spPr>
          <a:xfrm>
            <a:off x="7466037" y="4180075"/>
            <a:ext cx="155422" cy="1941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D</a:t>
            </a:r>
          </a:p>
        </p:txBody>
      </p:sp>
      <p:sp>
        <p:nvSpPr>
          <p:cNvPr id="147" name="Google Shape;147;p15"/>
          <p:cNvSpPr/>
          <p:nvPr/>
        </p:nvSpPr>
        <p:spPr>
          <a:xfrm>
            <a:off x="8192162" y="3694375"/>
            <a:ext cx="166186" cy="20063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C</a:t>
            </a:r>
          </a:p>
        </p:txBody>
      </p:sp>
      <p:sp>
        <p:nvSpPr>
          <p:cNvPr id="148" name="Google Shape;148;p15"/>
          <p:cNvSpPr/>
          <p:nvPr/>
        </p:nvSpPr>
        <p:spPr>
          <a:xfrm>
            <a:off x="7472737" y="3697625"/>
            <a:ext cx="142033" cy="1941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B</a:t>
            </a:r>
          </a:p>
        </p:txBody>
      </p:sp>
      <p:sp>
        <p:nvSpPr>
          <p:cNvPr id="149" name="Google Shape;149;p15"/>
          <p:cNvSpPr/>
          <p:nvPr/>
        </p:nvSpPr>
        <p:spPr>
          <a:xfrm>
            <a:off x="6440650" y="3237113"/>
            <a:ext cx="708900" cy="2007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Level 1</a:t>
            </a:r>
            <a:endParaRPr sz="1200"/>
          </a:p>
        </p:txBody>
      </p:sp>
      <p:sp>
        <p:nvSpPr>
          <p:cNvPr id="150" name="Google Shape;150;p15"/>
          <p:cNvSpPr/>
          <p:nvPr/>
        </p:nvSpPr>
        <p:spPr>
          <a:xfrm>
            <a:off x="6440650" y="3706950"/>
            <a:ext cx="708900" cy="2007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Level 2</a:t>
            </a:r>
            <a:endParaRPr sz="1200"/>
          </a:p>
        </p:txBody>
      </p:sp>
      <p:sp>
        <p:nvSpPr>
          <p:cNvPr id="151" name="Google Shape;151;p15"/>
          <p:cNvSpPr/>
          <p:nvPr/>
        </p:nvSpPr>
        <p:spPr>
          <a:xfrm>
            <a:off x="6440650" y="4176775"/>
            <a:ext cx="708900" cy="2007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Level 3</a:t>
            </a:r>
            <a:endParaRPr sz="1200"/>
          </a:p>
        </p:txBody>
      </p:sp>
      <p:sp>
        <p:nvSpPr>
          <p:cNvPr id="152" name="Google Shape;152;p15"/>
          <p:cNvSpPr/>
          <p:nvPr/>
        </p:nvSpPr>
        <p:spPr>
          <a:xfrm>
            <a:off x="6264825" y="3534975"/>
            <a:ext cx="2429700" cy="22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6264825" y="4024825"/>
            <a:ext cx="2429700" cy="22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8738175" y="2747525"/>
            <a:ext cx="140100" cy="189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8412353" y="4742500"/>
            <a:ext cx="597902" cy="2151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Arial"/>
              </a:rPr>
              <a:t>time</a:t>
            </a:r>
          </a:p>
        </p:txBody>
      </p:sp>
      <p:cxnSp>
        <p:nvCxnSpPr>
          <p:cNvPr id="156" name="Google Shape;156;p15"/>
          <p:cNvCxnSpPr>
            <a:endCxn id="141" idx="0"/>
          </p:cNvCxnSpPr>
          <p:nvPr/>
        </p:nvCxnSpPr>
        <p:spPr>
          <a:xfrm flipH="1">
            <a:off x="7543740" y="3442500"/>
            <a:ext cx="268500" cy="21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7" name="Google Shape;157;p15"/>
          <p:cNvCxnSpPr>
            <a:endCxn id="142" idx="0"/>
          </p:cNvCxnSpPr>
          <p:nvPr/>
        </p:nvCxnSpPr>
        <p:spPr>
          <a:xfrm>
            <a:off x="7995660" y="3429300"/>
            <a:ext cx="279600" cy="22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8" name="Google Shape;158;p15"/>
          <p:cNvCxnSpPr>
            <a:endCxn id="143" idx="0"/>
          </p:cNvCxnSpPr>
          <p:nvPr/>
        </p:nvCxnSpPr>
        <p:spPr>
          <a:xfrm>
            <a:off x="7541340" y="3927350"/>
            <a:ext cx="2400" cy="21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" name="Google Shape;159;p15"/>
          <p:cNvCxnSpPr>
            <a:stCxn id="142" idx="4"/>
            <a:endCxn id="144" idx="0"/>
          </p:cNvCxnSpPr>
          <p:nvPr/>
        </p:nvCxnSpPr>
        <p:spPr>
          <a:xfrm>
            <a:off x="8275260" y="3931800"/>
            <a:ext cx="0" cy="20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Ⅰ: Workload Modeling</a:t>
            </a:r>
            <a:endParaRPr/>
          </a:p>
        </p:txBody>
      </p:sp>
      <p:sp>
        <p:nvSpPr>
          <p:cNvPr id="165" name="Google Shape;165;p16"/>
          <p:cNvSpPr txBox="1"/>
          <p:nvPr>
            <p:ph idx="1" type="body"/>
          </p:nvPr>
        </p:nvSpPr>
        <p:spPr>
          <a:xfrm>
            <a:off x="955325" y="1530200"/>
            <a:ext cx="3219900" cy="33345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</a:rPr>
              <a:t>ISCAS-85 Circuit Benchmarks</a:t>
            </a:r>
            <a:endParaRPr b="1" sz="17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We use circuit logic benchmarks to create complex, realistic task graphs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1400"/>
              <a:buChar char="➢"/>
            </a:pPr>
            <a:r>
              <a:rPr b="1" lang="en" sz="1400"/>
              <a:t>Nodes: </a:t>
            </a:r>
            <a:r>
              <a:rPr lang="en" sz="1400"/>
              <a:t>Every gate maps to a synthetic CUDA kernel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1400"/>
              <a:buChar char="➢"/>
            </a:pPr>
            <a:r>
              <a:rPr b="1" lang="en" sz="1400"/>
              <a:t>Edges: </a:t>
            </a:r>
            <a:r>
              <a:rPr lang="en" sz="1400"/>
              <a:t>Data dependencies between gates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353535"/>
              </a:buClr>
              <a:buSzPts val="1400"/>
              <a:buChar char="➢"/>
            </a:pPr>
            <a:r>
              <a:rPr b="1" lang="en" sz="1400"/>
              <a:t>LSIM Framework: </a:t>
            </a:r>
            <a:r>
              <a:rPr lang="en" sz="1400"/>
              <a:t>Executes these task DAGs on physical NVIDIA GPUs</a:t>
            </a:r>
            <a:endParaRPr sz="1400"/>
          </a:p>
        </p:txBody>
      </p:sp>
      <p:sp>
        <p:nvSpPr>
          <p:cNvPr id="166" name="Google Shape;166;p16"/>
          <p:cNvSpPr txBox="1"/>
          <p:nvPr/>
        </p:nvSpPr>
        <p:spPr>
          <a:xfrm>
            <a:off x="5227848" y="4664025"/>
            <a:ext cx="28695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53535"/>
                </a:solidFill>
              </a:rPr>
              <a:t>C17 (ISCAS-85 Smoke Test)</a:t>
            </a:r>
            <a:endParaRPr sz="1600">
              <a:solidFill>
                <a:srgbClr val="353535"/>
              </a:solidFill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5509875" y="3089097"/>
            <a:ext cx="342300" cy="3570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5509875" y="3842135"/>
            <a:ext cx="342300" cy="3570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6281225" y="3386172"/>
            <a:ext cx="342300" cy="3570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A9999"/>
              </a:solidFill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6281225" y="4208097"/>
            <a:ext cx="342300" cy="3570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7052575" y="3089097"/>
            <a:ext cx="342300" cy="357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7052575" y="3851097"/>
            <a:ext cx="342300" cy="357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4334475" y="3012800"/>
            <a:ext cx="4278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in1</a:t>
            </a:r>
            <a:endParaRPr sz="900">
              <a:solidFill>
                <a:schemeClr val="dk1"/>
              </a:solidFill>
            </a:endParaRPr>
          </a:p>
        </p:txBody>
      </p:sp>
      <p:grpSp>
        <p:nvGrpSpPr>
          <p:cNvPr id="174" name="Google Shape;174;p16"/>
          <p:cNvGrpSpPr/>
          <p:nvPr/>
        </p:nvGrpSpPr>
        <p:grpSpPr>
          <a:xfrm>
            <a:off x="5149688" y="1215588"/>
            <a:ext cx="3376787" cy="1686713"/>
            <a:chOff x="4942275" y="1257000"/>
            <a:chExt cx="3376787" cy="1686713"/>
          </a:xfrm>
        </p:grpSpPr>
        <p:pic>
          <p:nvPicPr>
            <p:cNvPr id="175" name="Google Shape;175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60038" y="1288363"/>
              <a:ext cx="3159025" cy="1655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6"/>
            <p:cNvSpPr txBox="1"/>
            <p:nvPr/>
          </p:nvSpPr>
          <p:spPr>
            <a:xfrm>
              <a:off x="4942275" y="1257000"/>
              <a:ext cx="427800" cy="2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in1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177" name="Google Shape;177;p16"/>
            <p:cNvSpPr txBox="1"/>
            <p:nvPr/>
          </p:nvSpPr>
          <p:spPr>
            <a:xfrm>
              <a:off x="4942275" y="1600200"/>
              <a:ext cx="427800" cy="2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in2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4942275" y="1868300"/>
              <a:ext cx="427800" cy="2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in3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179" name="Google Shape;179;p16"/>
            <p:cNvSpPr txBox="1"/>
            <p:nvPr/>
          </p:nvSpPr>
          <p:spPr>
            <a:xfrm>
              <a:off x="4942275" y="2058600"/>
              <a:ext cx="427800" cy="2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in4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180" name="Google Shape;180;p16"/>
            <p:cNvSpPr txBox="1"/>
            <p:nvPr/>
          </p:nvSpPr>
          <p:spPr>
            <a:xfrm>
              <a:off x="4942275" y="2631325"/>
              <a:ext cx="427800" cy="2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in5</a:t>
              </a:r>
              <a:endParaRPr sz="900">
                <a:solidFill>
                  <a:schemeClr val="dk1"/>
                </a:solidFill>
              </a:endParaRPr>
            </a:p>
          </p:txBody>
        </p:sp>
      </p:grpSp>
      <p:sp>
        <p:nvSpPr>
          <p:cNvPr id="181" name="Google Shape;181;p16"/>
          <p:cNvSpPr txBox="1"/>
          <p:nvPr/>
        </p:nvSpPr>
        <p:spPr>
          <a:xfrm>
            <a:off x="4334475" y="3377988"/>
            <a:ext cx="4278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in2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4334475" y="3743200"/>
            <a:ext cx="4278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in3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4358100" y="4473600"/>
            <a:ext cx="4278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in5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4334475" y="4108400"/>
            <a:ext cx="4278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in4</a:t>
            </a:r>
            <a:endParaRPr sz="900">
              <a:solidFill>
                <a:schemeClr val="dk1"/>
              </a:solidFill>
            </a:endParaRPr>
          </a:p>
        </p:txBody>
      </p:sp>
      <p:cxnSp>
        <p:nvCxnSpPr>
          <p:cNvPr id="185" name="Google Shape;185;p16"/>
          <p:cNvCxnSpPr>
            <a:stCxn id="173" idx="3"/>
            <a:endCxn id="167" idx="2"/>
          </p:cNvCxnSpPr>
          <p:nvPr/>
        </p:nvCxnSpPr>
        <p:spPr>
          <a:xfrm>
            <a:off x="4762275" y="3127400"/>
            <a:ext cx="747600" cy="14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6"/>
          <p:cNvCxnSpPr>
            <a:stCxn id="182" idx="3"/>
            <a:endCxn id="167" idx="2"/>
          </p:cNvCxnSpPr>
          <p:nvPr/>
        </p:nvCxnSpPr>
        <p:spPr>
          <a:xfrm flipH="1" rot="10800000">
            <a:off x="4762275" y="3267700"/>
            <a:ext cx="747600" cy="59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6"/>
          <p:cNvCxnSpPr>
            <a:stCxn id="181" idx="3"/>
            <a:endCxn id="169" idx="2"/>
          </p:cNvCxnSpPr>
          <p:nvPr/>
        </p:nvCxnSpPr>
        <p:spPr>
          <a:xfrm>
            <a:off x="4762275" y="3492588"/>
            <a:ext cx="1518900" cy="7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6"/>
          <p:cNvCxnSpPr>
            <a:stCxn id="168" idx="6"/>
            <a:endCxn id="169" idx="2"/>
          </p:cNvCxnSpPr>
          <p:nvPr/>
        </p:nvCxnSpPr>
        <p:spPr>
          <a:xfrm flipH="1" rot="10800000">
            <a:off x="5852175" y="3564635"/>
            <a:ext cx="429000" cy="4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6"/>
          <p:cNvCxnSpPr>
            <a:stCxn id="170" idx="2"/>
            <a:endCxn id="168" idx="6"/>
          </p:cNvCxnSpPr>
          <p:nvPr/>
        </p:nvCxnSpPr>
        <p:spPr>
          <a:xfrm rot="10800000">
            <a:off x="5852225" y="4020597"/>
            <a:ext cx="42900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16"/>
          <p:cNvCxnSpPr>
            <a:stCxn id="184" idx="3"/>
            <a:endCxn id="168" idx="2"/>
          </p:cNvCxnSpPr>
          <p:nvPr/>
        </p:nvCxnSpPr>
        <p:spPr>
          <a:xfrm flipH="1" rot="10800000">
            <a:off x="4762275" y="4020500"/>
            <a:ext cx="74760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16"/>
          <p:cNvCxnSpPr>
            <a:stCxn id="183" idx="3"/>
            <a:endCxn id="170" idx="2"/>
          </p:cNvCxnSpPr>
          <p:nvPr/>
        </p:nvCxnSpPr>
        <p:spPr>
          <a:xfrm flipH="1" rot="10800000">
            <a:off x="4785900" y="4386600"/>
            <a:ext cx="1495200" cy="20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16"/>
          <p:cNvCxnSpPr>
            <a:stCxn id="182" idx="3"/>
            <a:endCxn id="168" idx="2"/>
          </p:cNvCxnSpPr>
          <p:nvPr/>
        </p:nvCxnSpPr>
        <p:spPr>
          <a:xfrm>
            <a:off x="4762275" y="3857800"/>
            <a:ext cx="74760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6"/>
          <p:cNvCxnSpPr>
            <a:stCxn id="167" idx="6"/>
            <a:endCxn id="171" idx="2"/>
          </p:cNvCxnSpPr>
          <p:nvPr/>
        </p:nvCxnSpPr>
        <p:spPr>
          <a:xfrm>
            <a:off x="5852175" y="3267597"/>
            <a:ext cx="120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6"/>
          <p:cNvCxnSpPr>
            <a:stCxn id="169" idx="6"/>
            <a:endCxn id="171" idx="2"/>
          </p:cNvCxnSpPr>
          <p:nvPr/>
        </p:nvCxnSpPr>
        <p:spPr>
          <a:xfrm flipH="1" rot="10800000">
            <a:off x="6623525" y="3267672"/>
            <a:ext cx="429000" cy="29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16"/>
          <p:cNvCxnSpPr>
            <a:stCxn id="172" idx="2"/>
            <a:endCxn id="169" idx="6"/>
          </p:cNvCxnSpPr>
          <p:nvPr/>
        </p:nvCxnSpPr>
        <p:spPr>
          <a:xfrm rot="10800000">
            <a:off x="6623575" y="3564597"/>
            <a:ext cx="429000" cy="46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16"/>
          <p:cNvCxnSpPr>
            <a:stCxn id="170" idx="6"/>
            <a:endCxn id="172" idx="2"/>
          </p:cNvCxnSpPr>
          <p:nvPr/>
        </p:nvCxnSpPr>
        <p:spPr>
          <a:xfrm flipH="1" rot="10800000">
            <a:off x="6623525" y="4029597"/>
            <a:ext cx="429000" cy="35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16"/>
          <p:cNvCxnSpPr>
            <a:stCxn id="171" idx="6"/>
          </p:cNvCxnSpPr>
          <p:nvPr/>
        </p:nvCxnSpPr>
        <p:spPr>
          <a:xfrm flipH="1" rot="10800000">
            <a:off x="7394875" y="3266997"/>
            <a:ext cx="4176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8" name="Google Shape;198;p16"/>
          <p:cNvCxnSpPr>
            <a:stCxn id="172" idx="6"/>
          </p:cNvCxnSpPr>
          <p:nvPr/>
        </p:nvCxnSpPr>
        <p:spPr>
          <a:xfrm flipH="1" rot="10800000">
            <a:off x="7394875" y="4028997"/>
            <a:ext cx="4062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 Policies: </a:t>
            </a:r>
            <a:endParaRPr/>
          </a:p>
        </p:txBody>
      </p:sp>
      <p:sp>
        <p:nvSpPr>
          <p:cNvPr id="204" name="Google Shape;204;p17"/>
          <p:cNvSpPr txBox="1"/>
          <p:nvPr>
            <p:ph idx="2" type="body"/>
          </p:nvPr>
        </p:nvSpPr>
        <p:spPr>
          <a:xfrm>
            <a:off x="0" y="4874177"/>
            <a:ext cx="4758900" cy="270000"/>
          </a:xfrm>
          <a:prstGeom prst="rect">
            <a:avLst/>
          </a:prstGeom>
        </p:spPr>
        <p:txBody>
          <a:bodyPr anchorCtr="0" anchor="ctr" bIns="68575" lIns="205725" spcFirstLastPara="1" rIns="68575" wrap="square" tIns="4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474950" y="1521188"/>
            <a:ext cx="3092400" cy="1548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1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FIFO</a:t>
            </a:r>
            <a:endParaRPr sz="1649"/>
          </a:p>
        </p:txBody>
      </p:sp>
      <p:grpSp>
        <p:nvGrpSpPr>
          <p:cNvPr id="206" name="Google Shape;206;p17"/>
          <p:cNvGrpSpPr/>
          <p:nvPr/>
        </p:nvGrpSpPr>
        <p:grpSpPr>
          <a:xfrm>
            <a:off x="1259227" y="1865386"/>
            <a:ext cx="2213057" cy="980577"/>
            <a:chOff x="6595625" y="1300925"/>
            <a:chExt cx="1878975" cy="832550"/>
          </a:xfrm>
        </p:grpSpPr>
        <p:sp>
          <p:nvSpPr>
            <p:cNvPr id="207" name="Google Shape;207;p17"/>
            <p:cNvSpPr/>
            <p:nvPr/>
          </p:nvSpPr>
          <p:spPr>
            <a:xfrm>
              <a:off x="7296575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7611350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7926125" y="1348050"/>
              <a:ext cx="178500" cy="738300"/>
            </a:xfrm>
            <a:prstGeom prst="rect">
              <a:avLst/>
            </a:prstGeom>
            <a:solidFill>
              <a:srgbClr val="45818E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cxnSp>
          <p:nvCxnSpPr>
            <p:cNvPr id="210" name="Google Shape;210;p17"/>
            <p:cNvCxnSpPr/>
            <p:nvPr/>
          </p:nvCxnSpPr>
          <p:spPr>
            <a:xfrm>
              <a:off x="6611875" y="1722050"/>
              <a:ext cx="233700" cy="300"/>
            </a:xfrm>
            <a:prstGeom prst="straightConnector1">
              <a:avLst/>
            </a:prstGeom>
            <a:noFill/>
            <a:ln cap="flat" cmpd="sng" w="224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11" name="Google Shape;211;p17"/>
            <p:cNvCxnSpPr/>
            <p:nvPr/>
          </p:nvCxnSpPr>
          <p:spPr>
            <a:xfrm flipH="1">
              <a:off x="6600775" y="1300925"/>
              <a:ext cx="1509000" cy="1800"/>
            </a:xfrm>
            <a:prstGeom prst="straightConnector1">
              <a:avLst/>
            </a:prstGeom>
            <a:noFill/>
            <a:ln cap="flat" cmpd="sng" w="33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2" name="Google Shape;212;p17"/>
            <p:cNvSpPr/>
            <p:nvPr/>
          </p:nvSpPr>
          <p:spPr>
            <a:xfrm>
              <a:off x="6981800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cxnSp>
          <p:nvCxnSpPr>
            <p:cNvPr id="213" name="Google Shape;213;p17"/>
            <p:cNvCxnSpPr/>
            <p:nvPr/>
          </p:nvCxnSpPr>
          <p:spPr>
            <a:xfrm>
              <a:off x="8240900" y="1717050"/>
              <a:ext cx="233700" cy="300"/>
            </a:xfrm>
            <a:prstGeom prst="straightConnector1">
              <a:avLst/>
            </a:prstGeom>
            <a:noFill/>
            <a:ln cap="flat" cmpd="sng" w="224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14" name="Google Shape;214;p17"/>
            <p:cNvCxnSpPr/>
            <p:nvPr/>
          </p:nvCxnSpPr>
          <p:spPr>
            <a:xfrm flipH="1">
              <a:off x="6595625" y="2131675"/>
              <a:ext cx="1509000" cy="1800"/>
            </a:xfrm>
            <a:prstGeom prst="straightConnector1">
              <a:avLst/>
            </a:prstGeom>
            <a:noFill/>
            <a:ln cap="flat" cmpd="sng" w="33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5" name="Google Shape;215;p17"/>
          <p:cNvSpPr/>
          <p:nvPr/>
        </p:nvSpPr>
        <p:spPr>
          <a:xfrm>
            <a:off x="4033275" y="466700"/>
            <a:ext cx="4339200" cy="2001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1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Fan</a:t>
            </a:r>
            <a:r>
              <a:rPr lang="en" sz="1649"/>
              <a:t>-in Priority</a:t>
            </a:r>
            <a:endParaRPr sz="1649"/>
          </a:p>
        </p:txBody>
      </p:sp>
      <p:grpSp>
        <p:nvGrpSpPr>
          <p:cNvPr id="216" name="Google Shape;216;p17"/>
          <p:cNvGrpSpPr/>
          <p:nvPr/>
        </p:nvGrpSpPr>
        <p:grpSpPr>
          <a:xfrm>
            <a:off x="5902252" y="810886"/>
            <a:ext cx="2213057" cy="980577"/>
            <a:chOff x="6595625" y="1300925"/>
            <a:chExt cx="1878975" cy="832550"/>
          </a:xfrm>
        </p:grpSpPr>
        <p:sp>
          <p:nvSpPr>
            <p:cNvPr id="217" name="Google Shape;217;p17"/>
            <p:cNvSpPr/>
            <p:nvPr/>
          </p:nvSpPr>
          <p:spPr>
            <a:xfrm>
              <a:off x="7296575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7611350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7926125" y="1348050"/>
              <a:ext cx="178500" cy="738300"/>
            </a:xfrm>
            <a:prstGeom prst="rect">
              <a:avLst/>
            </a:prstGeom>
            <a:solidFill>
              <a:srgbClr val="B5912A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cxnSp>
          <p:nvCxnSpPr>
            <p:cNvPr id="220" name="Google Shape;220;p17"/>
            <p:cNvCxnSpPr/>
            <p:nvPr/>
          </p:nvCxnSpPr>
          <p:spPr>
            <a:xfrm>
              <a:off x="6611875" y="1722050"/>
              <a:ext cx="233700" cy="300"/>
            </a:xfrm>
            <a:prstGeom prst="straightConnector1">
              <a:avLst/>
            </a:prstGeom>
            <a:noFill/>
            <a:ln cap="flat" cmpd="sng" w="224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21" name="Google Shape;221;p17"/>
            <p:cNvCxnSpPr/>
            <p:nvPr/>
          </p:nvCxnSpPr>
          <p:spPr>
            <a:xfrm flipH="1">
              <a:off x="6600775" y="1300925"/>
              <a:ext cx="1509000" cy="1800"/>
            </a:xfrm>
            <a:prstGeom prst="straightConnector1">
              <a:avLst/>
            </a:prstGeom>
            <a:noFill/>
            <a:ln cap="flat" cmpd="sng" w="33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2" name="Google Shape;222;p17"/>
            <p:cNvSpPr/>
            <p:nvPr/>
          </p:nvSpPr>
          <p:spPr>
            <a:xfrm>
              <a:off x="6981800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cxnSp>
          <p:nvCxnSpPr>
            <p:cNvPr id="223" name="Google Shape;223;p17"/>
            <p:cNvCxnSpPr/>
            <p:nvPr/>
          </p:nvCxnSpPr>
          <p:spPr>
            <a:xfrm>
              <a:off x="8240900" y="1717050"/>
              <a:ext cx="233700" cy="300"/>
            </a:xfrm>
            <a:prstGeom prst="straightConnector1">
              <a:avLst/>
            </a:prstGeom>
            <a:noFill/>
            <a:ln cap="flat" cmpd="sng" w="224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24" name="Google Shape;224;p17"/>
            <p:cNvCxnSpPr/>
            <p:nvPr/>
          </p:nvCxnSpPr>
          <p:spPr>
            <a:xfrm flipH="1">
              <a:off x="6595625" y="2131675"/>
              <a:ext cx="1509000" cy="1800"/>
            </a:xfrm>
            <a:prstGeom prst="straightConnector1">
              <a:avLst/>
            </a:prstGeom>
            <a:noFill/>
            <a:ln cap="flat" cmpd="sng" w="33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5" name="Google Shape;225;p17"/>
          <p:cNvSpPr/>
          <p:nvPr/>
        </p:nvSpPr>
        <p:spPr>
          <a:xfrm>
            <a:off x="7398800" y="1108275"/>
            <a:ext cx="238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5</a:t>
            </a:r>
            <a:endParaRPr sz="1649"/>
          </a:p>
        </p:txBody>
      </p:sp>
      <p:sp>
        <p:nvSpPr>
          <p:cNvPr id="226" name="Google Shape;226;p17"/>
          <p:cNvSpPr/>
          <p:nvPr/>
        </p:nvSpPr>
        <p:spPr>
          <a:xfrm>
            <a:off x="7043200" y="1108275"/>
            <a:ext cx="238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4</a:t>
            </a:r>
            <a:endParaRPr sz="1649"/>
          </a:p>
        </p:txBody>
      </p:sp>
      <p:sp>
        <p:nvSpPr>
          <p:cNvPr id="227" name="Google Shape;227;p17"/>
          <p:cNvSpPr/>
          <p:nvPr/>
        </p:nvSpPr>
        <p:spPr>
          <a:xfrm>
            <a:off x="6687600" y="1108275"/>
            <a:ext cx="238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3</a:t>
            </a:r>
            <a:endParaRPr sz="1649"/>
          </a:p>
        </p:txBody>
      </p:sp>
      <p:sp>
        <p:nvSpPr>
          <p:cNvPr id="228" name="Google Shape;228;p17"/>
          <p:cNvSpPr/>
          <p:nvPr/>
        </p:nvSpPr>
        <p:spPr>
          <a:xfrm>
            <a:off x="6332000" y="1108275"/>
            <a:ext cx="238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1</a:t>
            </a:r>
            <a:endParaRPr sz="1649"/>
          </a:p>
        </p:txBody>
      </p:sp>
      <p:sp>
        <p:nvSpPr>
          <p:cNvPr id="229" name="Google Shape;229;p17"/>
          <p:cNvSpPr/>
          <p:nvPr/>
        </p:nvSpPr>
        <p:spPr>
          <a:xfrm>
            <a:off x="4033275" y="2651400"/>
            <a:ext cx="4339200" cy="1917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1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Smallest Job First (SJF)</a:t>
            </a:r>
            <a:endParaRPr sz="1649"/>
          </a:p>
        </p:txBody>
      </p:sp>
      <p:grpSp>
        <p:nvGrpSpPr>
          <p:cNvPr id="230" name="Google Shape;230;p17"/>
          <p:cNvGrpSpPr/>
          <p:nvPr/>
        </p:nvGrpSpPr>
        <p:grpSpPr>
          <a:xfrm>
            <a:off x="5677806" y="3094111"/>
            <a:ext cx="2584718" cy="980577"/>
            <a:chOff x="6595625" y="1300925"/>
            <a:chExt cx="1878975" cy="832550"/>
          </a:xfrm>
        </p:grpSpPr>
        <p:sp>
          <p:nvSpPr>
            <p:cNvPr id="231" name="Google Shape;231;p17"/>
            <p:cNvSpPr/>
            <p:nvPr/>
          </p:nvSpPr>
          <p:spPr>
            <a:xfrm>
              <a:off x="7296575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7611350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7926125" y="1348050"/>
              <a:ext cx="178500" cy="738300"/>
            </a:xfrm>
            <a:prstGeom prst="rect">
              <a:avLst/>
            </a:prstGeom>
            <a:solidFill>
              <a:srgbClr val="B5912A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cxnSp>
          <p:nvCxnSpPr>
            <p:cNvPr id="234" name="Google Shape;234;p17"/>
            <p:cNvCxnSpPr/>
            <p:nvPr/>
          </p:nvCxnSpPr>
          <p:spPr>
            <a:xfrm>
              <a:off x="6611875" y="1722050"/>
              <a:ext cx="233700" cy="300"/>
            </a:xfrm>
            <a:prstGeom prst="straightConnector1">
              <a:avLst/>
            </a:prstGeom>
            <a:noFill/>
            <a:ln cap="flat" cmpd="sng" w="224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35" name="Google Shape;235;p17"/>
            <p:cNvCxnSpPr/>
            <p:nvPr/>
          </p:nvCxnSpPr>
          <p:spPr>
            <a:xfrm flipH="1">
              <a:off x="6600775" y="1300925"/>
              <a:ext cx="1509000" cy="1800"/>
            </a:xfrm>
            <a:prstGeom prst="straightConnector1">
              <a:avLst/>
            </a:prstGeom>
            <a:noFill/>
            <a:ln cap="flat" cmpd="sng" w="33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6" name="Google Shape;236;p17"/>
            <p:cNvSpPr/>
            <p:nvPr/>
          </p:nvSpPr>
          <p:spPr>
            <a:xfrm>
              <a:off x="6981800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cxnSp>
          <p:nvCxnSpPr>
            <p:cNvPr id="237" name="Google Shape;237;p17"/>
            <p:cNvCxnSpPr/>
            <p:nvPr/>
          </p:nvCxnSpPr>
          <p:spPr>
            <a:xfrm>
              <a:off x="8240900" y="1717050"/>
              <a:ext cx="233700" cy="300"/>
            </a:xfrm>
            <a:prstGeom prst="straightConnector1">
              <a:avLst/>
            </a:prstGeom>
            <a:noFill/>
            <a:ln cap="flat" cmpd="sng" w="224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38" name="Google Shape;238;p17"/>
            <p:cNvCxnSpPr/>
            <p:nvPr/>
          </p:nvCxnSpPr>
          <p:spPr>
            <a:xfrm flipH="1">
              <a:off x="6595625" y="2131675"/>
              <a:ext cx="1509000" cy="1800"/>
            </a:xfrm>
            <a:prstGeom prst="straightConnector1">
              <a:avLst/>
            </a:prstGeom>
            <a:noFill/>
            <a:ln cap="flat" cmpd="sng" w="33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9" name="Google Shape;239;p17"/>
          <p:cNvSpPr/>
          <p:nvPr/>
        </p:nvSpPr>
        <p:spPr>
          <a:xfrm>
            <a:off x="7461381" y="3391500"/>
            <a:ext cx="278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1</a:t>
            </a:r>
            <a:endParaRPr sz="1649"/>
          </a:p>
        </p:txBody>
      </p:sp>
      <p:sp>
        <p:nvSpPr>
          <p:cNvPr id="240" name="Google Shape;240;p17"/>
          <p:cNvSpPr/>
          <p:nvPr/>
        </p:nvSpPr>
        <p:spPr>
          <a:xfrm>
            <a:off x="6970029" y="3391500"/>
            <a:ext cx="278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3</a:t>
            </a:r>
            <a:endParaRPr sz="1649"/>
          </a:p>
        </p:txBody>
      </p:sp>
      <p:sp>
        <p:nvSpPr>
          <p:cNvPr id="241" name="Google Shape;241;p17"/>
          <p:cNvSpPr/>
          <p:nvPr/>
        </p:nvSpPr>
        <p:spPr>
          <a:xfrm>
            <a:off x="6554735" y="3391500"/>
            <a:ext cx="278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4</a:t>
            </a:r>
            <a:endParaRPr sz="1649"/>
          </a:p>
        </p:txBody>
      </p:sp>
      <p:sp>
        <p:nvSpPr>
          <p:cNvPr id="242" name="Google Shape;242;p17"/>
          <p:cNvSpPr/>
          <p:nvPr/>
        </p:nvSpPr>
        <p:spPr>
          <a:xfrm>
            <a:off x="6139440" y="3391500"/>
            <a:ext cx="278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5</a:t>
            </a:r>
            <a:endParaRPr sz="1649"/>
          </a:p>
        </p:txBody>
      </p:sp>
      <p:sp>
        <p:nvSpPr>
          <p:cNvPr id="243" name="Google Shape;243;p17"/>
          <p:cNvSpPr txBox="1"/>
          <p:nvPr/>
        </p:nvSpPr>
        <p:spPr>
          <a:xfrm>
            <a:off x="4198100" y="1918438"/>
            <a:ext cx="381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Priority = fan-in, </a:t>
            </a:r>
            <a:r>
              <a:rPr b="1" lang="en"/>
              <a:t>higher </a:t>
            </a:r>
            <a:r>
              <a:rPr lang="en"/>
              <a:t>fan-in runs first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4" name="Google Shape;244;p17"/>
          <p:cNvSpPr txBox="1"/>
          <p:nvPr/>
        </p:nvSpPr>
        <p:spPr>
          <a:xfrm>
            <a:off x="4198088" y="4074688"/>
            <a:ext cx="381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Priority = fan-in, </a:t>
            </a:r>
            <a:r>
              <a:rPr b="1" lang="en"/>
              <a:t>lower </a:t>
            </a:r>
            <a:r>
              <a:rPr lang="en"/>
              <a:t>fan-in runs first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569525" y="3577775"/>
            <a:ext cx="275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r>
              <a:rPr lang="en"/>
              <a:t>an-in: number of input edges (predecessors)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 Policies: </a:t>
            </a:r>
            <a:endParaRPr/>
          </a:p>
        </p:txBody>
      </p:sp>
      <p:sp>
        <p:nvSpPr>
          <p:cNvPr id="251" name="Google Shape;251;p18"/>
          <p:cNvSpPr txBox="1"/>
          <p:nvPr>
            <p:ph idx="2" type="body"/>
          </p:nvPr>
        </p:nvSpPr>
        <p:spPr>
          <a:xfrm>
            <a:off x="0" y="4874177"/>
            <a:ext cx="4758900" cy="270000"/>
          </a:xfrm>
          <a:prstGeom prst="rect">
            <a:avLst/>
          </a:prstGeom>
        </p:spPr>
        <p:txBody>
          <a:bodyPr anchorCtr="0" anchor="ctr" bIns="68575" lIns="205725" spcFirstLastPara="1" rIns="68575" wrap="square" tIns="4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1516425" y="1389900"/>
            <a:ext cx="5387100" cy="2363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1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Dependency Aware</a:t>
            </a:r>
            <a:endParaRPr sz="1649"/>
          </a:p>
        </p:txBody>
      </p:sp>
      <p:grpSp>
        <p:nvGrpSpPr>
          <p:cNvPr id="253" name="Google Shape;253;p18"/>
          <p:cNvGrpSpPr/>
          <p:nvPr/>
        </p:nvGrpSpPr>
        <p:grpSpPr>
          <a:xfrm>
            <a:off x="3836531" y="1832611"/>
            <a:ext cx="2747437" cy="980577"/>
            <a:chOff x="6595625" y="1300925"/>
            <a:chExt cx="1878975" cy="832550"/>
          </a:xfrm>
        </p:grpSpPr>
        <p:sp>
          <p:nvSpPr>
            <p:cNvPr id="254" name="Google Shape;254;p18"/>
            <p:cNvSpPr/>
            <p:nvPr/>
          </p:nvSpPr>
          <p:spPr>
            <a:xfrm>
              <a:off x="7296575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7611350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sp>
          <p:nvSpPr>
            <p:cNvPr id="256" name="Google Shape;256;p18"/>
            <p:cNvSpPr/>
            <p:nvPr/>
          </p:nvSpPr>
          <p:spPr>
            <a:xfrm>
              <a:off x="7926125" y="1348050"/>
              <a:ext cx="178500" cy="738300"/>
            </a:xfrm>
            <a:prstGeom prst="rect">
              <a:avLst/>
            </a:prstGeom>
            <a:solidFill>
              <a:srgbClr val="B5912A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cxnSp>
          <p:nvCxnSpPr>
            <p:cNvPr id="257" name="Google Shape;257;p18"/>
            <p:cNvCxnSpPr/>
            <p:nvPr/>
          </p:nvCxnSpPr>
          <p:spPr>
            <a:xfrm>
              <a:off x="6611875" y="1722050"/>
              <a:ext cx="233700" cy="300"/>
            </a:xfrm>
            <a:prstGeom prst="straightConnector1">
              <a:avLst/>
            </a:prstGeom>
            <a:noFill/>
            <a:ln cap="flat" cmpd="sng" w="224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58" name="Google Shape;258;p18"/>
            <p:cNvCxnSpPr/>
            <p:nvPr/>
          </p:nvCxnSpPr>
          <p:spPr>
            <a:xfrm flipH="1">
              <a:off x="6600775" y="1300925"/>
              <a:ext cx="1509000" cy="1800"/>
            </a:xfrm>
            <a:prstGeom prst="straightConnector1">
              <a:avLst/>
            </a:prstGeom>
            <a:noFill/>
            <a:ln cap="flat" cmpd="sng" w="33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9" name="Google Shape;259;p18"/>
            <p:cNvSpPr/>
            <p:nvPr/>
          </p:nvSpPr>
          <p:spPr>
            <a:xfrm>
              <a:off x="6981800" y="1348050"/>
              <a:ext cx="178500" cy="738300"/>
            </a:xfrm>
            <a:prstGeom prst="rect">
              <a:avLst/>
            </a:prstGeom>
            <a:solidFill>
              <a:srgbClr val="BF9000"/>
            </a:solidFill>
            <a:ln cap="flat" cmpd="sng" w="11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675" lIns="107675" spcFirstLastPara="1" rIns="107675" wrap="square" tIns="10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9"/>
            </a:p>
          </p:txBody>
        </p:sp>
        <p:cxnSp>
          <p:nvCxnSpPr>
            <p:cNvPr id="260" name="Google Shape;260;p18"/>
            <p:cNvCxnSpPr/>
            <p:nvPr/>
          </p:nvCxnSpPr>
          <p:spPr>
            <a:xfrm>
              <a:off x="8240900" y="1717050"/>
              <a:ext cx="233700" cy="300"/>
            </a:xfrm>
            <a:prstGeom prst="straightConnector1">
              <a:avLst/>
            </a:prstGeom>
            <a:noFill/>
            <a:ln cap="flat" cmpd="sng" w="224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61" name="Google Shape;261;p18"/>
            <p:cNvCxnSpPr/>
            <p:nvPr/>
          </p:nvCxnSpPr>
          <p:spPr>
            <a:xfrm flipH="1">
              <a:off x="6595625" y="2131675"/>
              <a:ext cx="1509000" cy="1800"/>
            </a:xfrm>
            <a:prstGeom prst="straightConnector1">
              <a:avLst/>
            </a:prstGeom>
            <a:noFill/>
            <a:ln cap="flat" cmpd="sng" w="33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2" name="Google Shape;262;p18"/>
          <p:cNvSpPr/>
          <p:nvPr/>
        </p:nvSpPr>
        <p:spPr>
          <a:xfrm>
            <a:off x="5694709" y="2031475"/>
            <a:ext cx="2958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5</a:t>
            </a:r>
            <a:endParaRPr sz="1649"/>
          </a:p>
        </p:txBody>
      </p:sp>
      <p:sp>
        <p:nvSpPr>
          <p:cNvPr id="263" name="Google Shape;263;p18"/>
          <p:cNvSpPr/>
          <p:nvPr/>
        </p:nvSpPr>
        <p:spPr>
          <a:xfrm>
            <a:off x="5253233" y="2031475"/>
            <a:ext cx="2958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4</a:t>
            </a:r>
            <a:endParaRPr sz="1649"/>
          </a:p>
        </p:txBody>
      </p:sp>
      <p:sp>
        <p:nvSpPr>
          <p:cNvPr id="264" name="Google Shape;264;p18"/>
          <p:cNvSpPr/>
          <p:nvPr/>
        </p:nvSpPr>
        <p:spPr>
          <a:xfrm>
            <a:off x="4811758" y="2031475"/>
            <a:ext cx="2958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3</a:t>
            </a:r>
            <a:endParaRPr sz="1649"/>
          </a:p>
        </p:txBody>
      </p:sp>
      <p:sp>
        <p:nvSpPr>
          <p:cNvPr id="265" name="Google Shape;265;p18"/>
          <p:cNvSpPr/>
          <p:nvPr/>
        </p:nvSpPr>
        <p:spPr>
          <a:xfrm>
            <a:off x="4370282" y="2031475"/>
            <a:ext cx="2958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675" lIns="107675" spcFirstLastPara="1" rIns="107675" wrap="square" tIns="10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9"/>
              <a:t>1</a:t>
            </a:r>
            <a:endParaRPr sz="1649"/>
          </a:p>
        </p:txBody>
      </p:sp>
      <p:sp>
        <p:nvSpPr>
          <p:cNvPr id="266" name="Google Shape;266;p18"/>
          <p:cNvSpPr txBox="1"/>
          <p:nvPr/>
        </p:nvSpPr>
        <p:spPr>
          <a:xfrm>
            <a:off x="2043527" y="3106225"/>
            <a:ext cx="43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Priority = fan-</a:t>
            </a:r>
            <a:r>
              <a:rPr lang="en"/>
              <a:t>out</a:t>
            </a:r>
            <a:r>
              <a:rPr lang="en"/>
              <a:t>, </a:t>
            </a:r>
            <a:r>
              <a:rPr b="1" lang="en"/>
              <a:t>higher </a:t>
            </a:r>
            <a:r>
              <a:rPr lang="en"/>
              <a:t>fan-out runs first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2127675" y="3990188"/>
            <a:ext cx="416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Fan-out: number of output edges (</a:t>
            </a:r>
            <a:r>
              <a:rPr lang="en"/>
              <a:t>successors </a:t>
            </a:r>
            <a:r>
              <a:rPr lang="en"/>
              <a:t>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Execution Modes</a:t>
            </a:r>
            <a:endParaRPr/>
          </a:p>
        </p:txBody>
      </p:sp>
      <p:sp>
        <p:nvSpPr>
          <p:cNvPr id="273" name="Google Shape;273;p19"/>
          <p:cNvSpPr txBox="1"/>
          <p:nvPr>
            <p:ph idx="1" type="body"/>
          </p:nvPr>
        </p:nvSpPr>
        <p:spPr>
          <a:xfrm>
            <a:off x="746225" y="1380325"/>
            <a:ext cx="7626300" cy="36774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B5394"/>
                </a:solidFill>
              </a:rPr>
              <a:t>Execution Mode</a:t>
            </a:r>
            <a:endParaRPr b="1" sz="15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Blocking:</a:t>
            </a:r>
            <a:r>
              <a:rPr lang="en" sz="1400"/>
              <a:t> The CPU launches a batch of </a:t>
            </a:r>
            <a:r>
              <a:rPr i="1" lang="en" sz="1400"/>
              <a:t>N</a:t>
            </a:r>
            <a:r>
              <a:rPr lang="en" sz="1400"/>
              <a:t> gates and waits for all of them to finish before moving on.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Non-blocking:</a:t>
            </a:r>
            <a:r>
              <a:rPr lang="en" sz="1400"/>
              <a:t> The CPU continuously checks for completed gates and immediately launches newly-ready ones, keeping the GPU busy without waiting for a full batch to finish.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  <p:sp>
        <p:nvSpPr>
          <p:cNvPr id="279" name="Google Shape;279;p20"/>
          <p:cNvSpPr txBox="1"/>
          <p:nvPr>
            <p:ph idx="1" type="body"/>
          </p:nvPr>
        </p:nvSpPr>
        <p:spPr>
          <a:xfrm>
            <a:off x="1114425" y="1380335"/>
            <a:ext cx="7258200" cy="33345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</a:rPr>
              <a:t>Primary Timing (Speed)</a:t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3535"/>
              </a:buClr>
              <a:buSzPts val="1200"/>
              <a:buChar char="➢"/>
            </a:pPr>
            <a:r>
              <a:rPr b="1" lang="en" sz="1200"/>
              <a:t>Makespan:</a:t>
            </a:r>
            <a:r>
              <a:rPr lang="en" sz="1200"/>
              <a:t> Total wall-clock time from start to finish.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200"/>
              <a:buChar char="➢"/>
            </a:pPr>
            <a:r>
              <a:rPr b="1" lang="en" sz="1200"/>
              <a:t>Average Wait Time:</a:t>
            </a:r>
            <a:r>
              <a:rPr lang="en" sz="1200"/>
              <a:t> How long gates sit in the queue before being launched.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200"/>
              <a:buChar char="➢"/>
            </a:pPr>
            <a:r>
              <a:rPr b="1" lang="en" sz="1200"/>
              <a:t>Throughput:</a:t>
            </a:r>
            <a:r>
              <a:rPr lang="en" sz="1200"/>
              <a:t> Total tasks completed per second.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</a:rPr>
              <a:t>Responsiveness (Efficiency)</a:t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3535"/>
              </a:buClr>
              <a:buSzPts val="1200"/>
              <a:buChar char="➢"/>
            </a:pPr>
            <a:r>
              <a:rPr b="1" lang="en" sz="1200"/>
              <a:t>Average Slowdown:</a:t>
            </a:r>
            <a:r>
              <a:rPr lang="en" sz="1200"/>
              <a:t> Turnaround time relative to execution time; measures the "delay" felt by each gate.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200"/>
              <a:buChar char="➢"/>
            </a:pPr>
            <a:r>
              <a:rPr b="1" lang="en" sz="1200"/>
              <a:t>Weighted Slowdown:</a:t>
            </a:r>
            <a:r>
              <a:rPr lang="en" sz="1200"/>
              <a:t> Penalizes the starvation of high-priority gates (low fan-in) more heavily.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200"/>
              <a:buChar char="➢"/>
            </a:pPr>
            <a:r>
              <a:rPr b="1" lang="en" sz="1200"/>
              <a:t>GPU Utilization:</a:t>
            </a:r>
            <a:r>
              <a:rPr lang="en" sz="1200"/>
              <a:t> The percentage of time the GPU was actually busy during the stream.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5394"/>
                </a:solidFill>
              </a:rPr>
              <a:t>Fairness (Equity)</a:t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3535"/>
              </a:buClr>
              <a:buSzPts val="1200"/>
              <a:buChar char="➢"/>
            </a:pPr>
            <a:r>
              <a:rPr b="1" lang="en" sz="1200"/>
              <a:t>Jain’s Fairness Index:</a:t>
            </a:r>
            <a:r>
              <a:rPr lang="en" sz="1200"/>
              <a:t> A score (0 to 1) measuring if resources were shared fairly across different circuit workloads.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200"/>
              <a:buChar char="➢"/>
            </a:pPr>
            <a:r>
              <a:rPr b="1" lang="en" sz="1200"/>
              <a:t>Completion Variance:</a:t>
            </a:r>
            <a:r>
              <a:rPr lang="en" sz="1200"/>
              <a:t> Measures the consistency of finish times within a single workload to identify "jitter."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Observation 1</a:t>
            </a:r>
            <a:endParaRPr/>
          </a:p>
        </p:txBody>
      </p:sp>
      <p:sp>
        <p:nvSpPr>
          <p:cNvPr id="285" name="Google Shape;285;p21"/>
          <p:cNvSpPr txBox="1"/>
          <p:nvPr>
            <p:ph idx="1" type="body"/>
          </p:nvPr>
        </p:nvSpPr>
        <p:spPr>
          <a:xfrm>
            <a:off x="1114425" y="1380335"/>
            <a:ext cx="7258200" cy="33345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2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Observation 2</a:t>
            </a:r>
            <a:endParaRPr/>
          </a:p>
        </p:txBody>
      </p:sp>
      <p:sp>
        <p:nvSpPr>
          <p:cNvPr id="291" name="Google Shape;291;p22"/>
          <p:cNvSpPr txBox="1"/>
          <p:nvPr>
            <p:ph idx="1" type="body"/>
          </p:nvPr>
        </p:nvSpPr>
        <p:spPr>
          <a:xfrm>
            <a:off x="1114425" y="1380335"/>
            <a:ext cx="7258200" cy="33345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Observation 3</a:t>
            </a:r>
            <a:endParaRPr/>
          </a:p>
        </p:txBody>
      </p:sp>
      <p:sp>
        <p:nvSpPr>
          <p:cNvPr id="297" name="Google Shape;297;p23"/>
          <p:cNvSpPr txBox="1"/>
          <p:nvPr>
            <p:ph idx="1" type="body"/>
          </p:nvPr>
        </p:nvSpPr>
        <p:spPr>
          <a:xfrm>
            <a:off x="1114425" y="1380335"/>
            <a:ext cx="7258200" cy="33345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4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303" name="Google Shape;303;p24"/>
          <p:cNvSpPr txBox="1"/>
          <p:nvPr>
            <p:ph idx="1" type="body"/>
          </p:nvPr>
        </p:nvSpPr>
        <p:spPr>
          <a:xfrm>
            <a:off x="1114425" y="1380335"/>
            <a:ext cx="7258200" cy="33345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5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309" name="Google Shape;309;p25"/>
          <p:cNvSpPr txBox="1"/>
          <p:nvPr>
            <p:ph idx="1" type="body"/>
          </p:nvPr>
        </p:nvSpPr>
        <p:spPr>
          <a:xfrm>
            <a:off x="1114425" y="1380335"/>
            <a:ext cx="7258200" cy="33345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315" name="Google Shape;315;p26"/>
          <p:cNvSpPr txBox="1"/>
          <p:nvPr>
            <p:ph idx="1" type="body"/>
          </p:nvPr>
        </p:nvSpPr>
        <p:spPr>
          <a:xfrm>
            <a:off x="1114425" y="1380335"/>
            <a:ext cx="7258200" cy="33345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 txBox="1"/>
          <p:nvPr>
            <p:ph type="title"/>
          </p:nvPr>
        </p:nvSpPr>
        <p:spPr>
          <a:xfrm>
            <a:off x="371475" y="342900"/>
            <a:ext cx="8001000" cy="8001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21" name="Google Shape;321;p27"/>
          <p:cNvSpPr txBox="1"/>
          <p:nvPr>
            <p:ph idx="1" type="body"/>
          </p:nvPr>
        </p:nvSpPr>
        <p:spPr>
          <a:xfrm>
            <a:off x="1114425" y="1380335"/>
            <a:ext cx="7258200" cy="33345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 txBox="1"/>
          <p:nvPr>
            <p:ph type="title"/>
          </p:nvPr>
        </p:nvSpPr>
        <p:spPr>
          <a:xfrm>
            <a:off x="1114425" y="1875651"/>
            <a:ext cx="6209400" cy="1025400"/>
          </a:xfrm>
          <a:prstGeom prst="rect">
            <a:avLst/>
          </a:prstGeom>
        </p:spPr>
        <p:txBody>
          <a:bodyPr anchorCtr="0" anchor="b" bIns="0" lIns="0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327" name="Google Shape;327;p28"/>
          <p:cNvSpPr txBox="1"/>
          <p:nvPr>
            <p:ph idx="1" type="body"/>
          </p:nvPr>
        </p:nvSpPr>
        <p:spPr>
          <a:xfrm>
            <a:off x="1114425" y="3170196"/>
            <a:ext cx="3948000" cy="2658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Thank you for your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W-Madison theme1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C5050C"/>
      </a:accent2>
      <a:accent3>
        <a:srgbClr val="9B0000"/>
      </a:accent3>
      <a:accent4>
        <a:srgbClr val="FCCB51"/>
      </a:accent4>
      <a:accent5>
        <a:srgbClr val="80B3AE"/>
      </a:accent5>
      <a:accent6>
        <a:srgbClr val="ADADAD"/>
      </a:accent6>
      <a:hlink>
        <a:srgbClr val="0479A8"/>
      </a:hlink>
      <a:folHlink>
        <a:srgbClr val="0479A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